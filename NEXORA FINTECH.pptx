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0" r:id="rId4"/>
    <p:sldId id="27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21F4078-9F82-4FFF-828A-3B3A390728BD}">
          <p14:sldIdLst>
            <p14:sldId id="256"/>
            <p14:sldId id="257"/>
            <p14:sldId id="260"/>
            <p14:sldId id="27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136432-73FA-4C97-A2D8-0240F8911BBE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68CCE-1BAD-4594-804D-3C3C3FEAA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1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C0D8-CB23-BEC3-C803-B63B764D9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A8E065-F057-EAD8-396E-1B0B323CA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C7A60-4AAC-EF7B-6793-81E8A2A84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23DBF-CB22-40A9-55BF-FB42F955D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3EF0A-4112-5D79-9CED-301C0590E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28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2EAC-C664-6523-8B1B-97ED5EA45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F476D-9386-9B7F-D72C-EA1853754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59DF2-A76C-17C8-20E5-ADDE83626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5231B-1598-D204-0FF0-08D7F4DF2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2D598-79DE-1507-6563-AFBE0FF8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099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771CE-C779-248F-EB82-4A7362A91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9FAE2-A704-C06D-820D-0BF9C14B8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6AC13-0230-0D5E-18DA-1D0C5D673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CEA2D-0D39-2CC3-4D48-182643CD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F0AC3-16E5-B808-BCB5-5FB826528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631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7810-73B4-7154-4805-FF617CCE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E86B5-D535-0C4A-6414-30A87B296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866BB1-4766-6D6A-9A80-0611C9AB9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45B7-FAAE-DF3C-F02C-1A0762D04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AD4E6-0B3E-E880-33B1-7257EC7FA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BA459-39BF-C115-A0E7-689F23451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094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31BF4-EA83-0375-E329-CF90B189B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F8395-948B-EDF1-D8A3-8B1630097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B789A-11DB-6A38-FBB8-FCAD73CA5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CD894D-0FCD-152F-F1B4-E44E83FE6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E9B724-4065-EA8A-EF29-1374B7334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1BEBDA-7B52-A2D8-2D8B-943E1CC6B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E341F8-6008-2192-7259-9353C9E69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37C3B3-EB63-E279-9405-1A9C018FD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3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61E92-EA9F-7E9C-C8F3-4287A7028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9FD4FB-A8D2-C58C-A9B1-50A5B9B37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7863B0-E460-E26D-CC18-386F854A0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ACFDE6-06D7-26B2-026A-0F6FAA923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07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0AD250-4AEC-A223-7E43-4670DD725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F9029B-648A-9BEC-BD02-DABB61A04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6F324-42CE-FF81-772E-5EB927A9E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DFBDD-94A3-11BB-F0CA-B451B0A3E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73491-E65D-0B91-14CB-D8F8AF0AA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CE0FE-A059-31FE-91E2-D098FD259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ED17D-B75C-F1F4-9AA3-7FA04C0EF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14E12-9AD4-BD78-FF79-3D6191DDE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1DD25-6FF8-418C-23B4-080BBDDB8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242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E506D-BE6D-0C39-C6D4-8F69EB3A2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341426-53C0-9FDB-2A35-BAB9BD145E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FB5C7-0FC3-ED6F-DE89-F604C142D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F53ED-3357-C313-CB03-5CDD68086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C10D6-1BB6-79A6-6650-F1F7A5332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AF657-8DD2-60B9-487C-C7999D41C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75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68F78-BDFA-4890-4435-8C55EF743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55E09-04FC-D9FF-B3B1-5C7AD6DEF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6131C-12C4-3B69-060D-3E1C0E923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A3B63-9CD1-450A-09D9-59ADE6D02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E6784-31C8-8D72-9433-9BC8696EC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014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D74157-85C4-39E4-D174-D5EF5E958B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951171-36FA-285A-5E75-877E1E314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EEEDC-BA11-EBC7-1B07-8267A98B7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8C021-D545-9CF6-9EE0-216426EE5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76153-BD0B-3A7E-BF41-EAEA96237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77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A5F85C-735A-4875-F357-F23637C8E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F6F8C-597E-50A2-15BC-FF514B357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4BE65-0372-47E1-2772-850BE5B2B5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FD143-62C0-5ADC-8635-892D62EA5F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A316A-236B-A670-A1B9-EFA6107F5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3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9134D4F-C094-8DF4-912A-242DE5180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8396"/>
            <a:ext cx="12192000" cy="68296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7B1E27-03E8-E76E-0D79-6F235C2EA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251" y="1041400"/>
            <a:ext cx="11509949" cy="2387600"/>
          </a:xfrm>
          <a:scene3d>
            <a:camera prst="orthographicFront"/>
            <a:lightRig rig="threePt" dir="t"/>
          </a:scene3d>
          <a:sp3d extrusionH="6350" contourW="6350">
            <a:bevelT w="6350"/>
            <a:bevelB w="6350"/>
          </a:sp3d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NEXORA FINTECH: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Unlocking Global Leadership Through Data &amp;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9C330-D5E6-0D75-E085-193B99335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49492"/>
            <a:ext cx="7365167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BY:</a:t>
            </a:r>
          </a:p>
          <a:p>
            <a:r>
              <a:rPr lang="en-US" dirty="0">
                <a:solidFill>
                  <a:schemeClr val="bg1"/>
                </a:solidFill>
              </a:rPr>
              <a:t>Taiwo ADEYEMI</a:t>
            </a:r>
          </a:p>
          <a:p>
            <a:r>
              <a:rPr lang="en-US" dirty="0">
                <a:solidFill>
                  <a:schemeClr val="bg1"/>
                </a:solidFill>
              </a:rPr>
              <a:t>Email: adetwins2005@gmail.com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31679C-8914-62F1-8E03-C85CB355630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22905" y="6405254"/>
            <a:ext cx="2469094" cy="41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206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5815-E664-5E5E-9EB8-1658FF07D963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>
            <a:gsLst>
              <a:gs pos="7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</a:gradFill>
        </p:spPr>
        <p:txBody>
          <a:bodyPr/>
          <a:lstStyle/>
          <a:p>
            <a:pPr algn="ctr"/>
            <a:r>
              <a:rPr lang="en-US" b="1" dirty="0"/>
              <a:t>GLOBAL TRENDS &amp; KEY OPPORTUNITIES IN DATA &amp; AI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E46906-958F-8CA2-E8D8-FB1E99D2C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598793"/>
              </p:ext>
            </p:extLst>
          </p:nvPr>
        </p:nvGraphicFramePr>
        <p:xfrm>
          <a:off x="838200" y="2218214"/>
          <a:ext cx="10515600" cy="3566160"/>
        </p:xfrm>
        <a:graphic>
          <a:graphicData uri="http://schemas.openxmlformats.org/drawingml/2006/table">
            <a:tbl>
              <a:tblPr/>
              <a:tblGrid>
                <a:gridCol w="4813092">
                  <a:extLst>
                    <a:ext uri="{9D8B030D-6E8A-4147-A177-3AD203B41FA5}">
                      <a16:colId xmlns:a16="http://schemas.microsoft.com/office/drawing/2014/main" val="632748414"/>
                    </a:ext>
                  </a:extLst>
                </a:gridCol>
                <a:gridCol w="5702508">
                  <a:extLst>
                    <a:ext uri="{9D8B030D-6E8A-4147-A177-3AD203B41FA5}">
                      <a16:colId xmlns:a16="http://schemas.microsoft.com/office/drawing/2014/main" val="11081999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Trend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Key Opportunity for </a:t>
                      </a:r>
                      <a:r>
                        <a:rPr lang="en-US" b="1" dirty="0" err="1"/>
                        <a:t>Nexora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42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📈 Rise of Embedded AI in Digital Payments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Automate fraud detection, credit scoring, and customer verification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854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🌍 Financial Inclusion through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 inclusive credit algorithms for underserved populations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467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⚖️ AI Regulation &amp; Ethics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Lead with transparent, bias-free AI systems to build trust in emerging markets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558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📡 Real-time Data Pipelines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Deploy streaming data systems for instant loan approvals and user insights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758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/>
                        <a:t>🤖 Generative AI in Customer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Deploy AI agents for 24/7 multilingual support across continents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875432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EB982D3-B6E5-1CAF-CB2F-C0F78B11B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620" y="6445770"/>
            <a:ext cx="2468380" cy="4122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9B69D3-D58D-6A7F-E2E8-ADC2810F8E1D}"/>
              </a:ext>
            </a:extLst>
          </p:cNvPr>
          <p:cNvSpPr txBox="1"/>
          <p:nvPr/>
        </p:nvSpPr>
        <p:spPr>
          <a:xfrm>
            <a:off x="2500" y="6567825"/>
            <a:ext cx="44945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Visual Source: Author-created PESTEL framework for AI/Data Strategy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19101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E2B3D-30D2-997A-821E-5AFDE0B85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38822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</a:gradFill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SWOT Analysis: </a:t>
            </a:r>
            <a:r>
              <a:rPr lang="en-US" b="1" dirty="0" err="1"/>
              <a:t>Nexora's</a:t>
            </a:r>
            <a:r>
              <a:rPr lang="en-US" b="1" dirty="0"/>
              <a:t> Internal Readiness for Data &amp; AI Leadership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71E77FC-98ED-C56F-5D53-2D0ADA10E29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77616077"/>
              </p:ext>
            </p:extLst>
          </p:nvPr>
        </p:nvGraphicFramePr>
        <p:xfrm>
          <a:off x="838200" y="1753850"/>
          <a:ext cx="10515600" cy="45635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47358">
                  <a:extLst>
                    <a:ext uri="{9D8B030D-6E8A-4147-A177-3AD203B41FA5}">
                      <a16:colId xmlns:a16="http://schemas.microsoft.com/office/drawing/2014/main" val="1924011767"/>
                    </a:ext>
                  </a:extLst>
                </a:gridCol>
                <a:gridCol w="5368242">
                  <a:extLst>
                    <a:ext uri="{9D8B030D-6E8A-4147-A177-3AD203B41FA5}">
                      <a16:colId xmlns:a16="http://schemas.microsoft.com/office/drawing/2014/main" val="2480812953"/>
                    </a:ext>
                  </a:extLst>
                </a:gridCol>
              </a:tblGrid>
              <a:tr h="4561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Strengths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Weaknesses (Gaps)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2430087757"/>
                  </a:ext>
                </a:extLst>
              </a:tr>
              <a:tr h="5194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✅ Agile and tech-savvy teams with fintech experience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⚠️ Limited in-house AI/ML expertise and data engineering capability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2504193726"/>
                  </a:ext>
                </a:extLst>
              </a:tr>
              <a:tr h="5194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✅ Solid digital infrastructure from lending and payments systems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⚠️ Siloed data with no centralized data platform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3372081536"/>
                  </a:ext>
                </a:extLst>
              </a:tr>
              <a:tr h="5194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✅ Strong executive commitment to innovation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⚠️ Lack of formal processes for AI model development, deployment, and governance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2979506993"/>
                  </a:ext>
                </a:extLst>
              </a:tr>
              <a:tr h="5194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✅ Culture of speed and experimentation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⚠️ Insufficient focus on long-term AI ethics, fairness, and auditability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274551891"/>
                  </a:ext>
                </a:extLst>
              </a:tr>
              <a:tr h="5194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✅ </a:t>
                      </a:r>
                      <a:r>
                        <a:rPr lang="en-US" sz="1600" b="1" dirty="0"/>
                        <a:t>Strong Regional Presence:</a:t>
                      </a:r>
                      <a:r>
                        <a:rPr lang="en-US" sz="1600" dirty="0"/>
                        <a:t> Established footprint in high-growth markets (Asia, Africa, Middle East).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⚠️</a:t>
                      </a:r>
                      <a:r>
                        <a:rPr lang="en-US" sz="16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Potential Data Silos: </a:t>
                      </a:r>
                      <a:r>
                        <a:rPr lang="en-US" sz="1600" dirty="0"/>
                        <a:t>Fragmented data infrastructure across diverse operations.</a:t>
                      </a: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942886899"/>
                  </a:ext>
                </a:extLst>
              </a:tr>
              <a:tr h="6694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</a:t>
                      </a: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Investment in Data &amp; AI: Explicit strategic focus and capital allocation.</a:t>
                      </a: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⚠️</a:t>
                      </a:r>
                      <a:r>
                        <a:rPr lang="en-US" sz="16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Literacy Across Organization: Uneven understanding of advanced data and AI concepts</a:t>
                      </a: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411365359"/>
                  </a:ext>
                </a:extLst>
              </a:tr>
              <a:tr h="6694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</a:t>
                      </a: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Innovation-Driven Culture: Openness to new technologies</a:t>
                      </a: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⚠️</a:t>
                      </a:r>
                      <a:r>
                        <a:rPr lang="en-US" sz="16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Emerging AI Capabilities: Currently not yet a global leader in AI sophistication</a:t>
                      </a: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3274912642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AC272BD4-EC37-DA30-1220-E123F4F77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620" y="6445770"/>
            <a:ext cx="2468380" cy="41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664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0EAE4F-D6CD-2C12-5596-7DE012FBB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9AEE7-D1E1-04CD-B897-DB8E2DD75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38822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</a:gradFill>
        </p:spPr>
        <p:txBody>
          <a:bodyPr>
            <a:noAutofit/>
          </a:bodyPr>
          <a:lstStyle/>
          <a:p>
            <a:pPr algn="ctr"/>
            <a:r>
              <a:rPr lang="en-US" sz="4000" b="1" dirty="0"/>
              <a:t>SWOT Analysis: </a:t>
            </a:r>
            <a:r>
              <a:rPr lang="en-US" sz="4000" b="1" dirty="0" err="1"/>
              <a:t>Nexora's</a:t>
            </a:r>
            <a:r>
              <a:rPr lang="en-US" sz="4000" b="1" dirty="0"/>
              <a:t> Internal Readiness for Data &amp; AI Leadership</a:t>
            </a:r>
            <a:endParaRPr lang="en-US" sz="40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A22F913-27CF-9F55-1110-2579EED61A2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20102397"/>
              </p:ext>
            </p:extLst>
          </p:nvPr>
        </p:nvGraphicFramePr>
        <p:xfrm>
          <a:off x="838200" y="1825625"/>
          <a:ext cx="10515600" cy="40921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75405">
                  <a:extLst>
                    <a:ext uri="{9D8B030D-6E8A-4147-A177-3AD203B41FA5}">
                      <a16:colId xmlns:a16="http://schemas.microsoft.com/office/drawing/2014/main" val="4144012510"/>
                    </a:ext>
                  </a:extLst>
                </a:gridCol>
                <a:gridCol w="5340195">
                  <a:extLst>
                    <a:ext uri="{9D8B030D-6E8A-4147-A177-3AD203B41FA5}">
                      <a16:colId xmlns:a16="http://schemas.microsoft.com/office/drawing/2014/main" val="1588299224"/>
                    </a:ext>
                  </a:extLst>
                </a:gridCol>
              </a:tblGrid>
              <a:tr h="6747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Opportunities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Threats (Risks)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1496197906"/>
                  </a:ext>
                </a:extLst>
              </a:tr>
              <a:tr h="5402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🚀 Leverage existing financial data to build predictive AI models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⛔ Regulatory changes in data privacy and AI ethics across regions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4016976434"/>
                  </a:ext>
                </a:extLst>
              </a:tr>
              <a:tr h="6132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🚀 Build a regional AI Center of Excellence to close talent and skills gaps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⛔ Talent drain or over-reliance on external consultants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3609492930"/>
                  </a:ext>
                </a:extLst>
              </a:tr>
              <a:tr h="65947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🚀 Become a leader in ethical AI for underserved markets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⛔ Model bias or inaccuracies affecting trust and credit decisions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2049433271"/>
                  </a:ext>
                </a:extLst>
              </a:tr>
              <a:tr h="483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🚀 Partner with universities/startups for AI R&amp;D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⛔ Execution risk due to simultaneous strategic transformations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3373088884"/>
                  </a:ext>
                </a:extLst>
              </a:tr>
              <a:tr h="483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⛔Aggressive Competition: Established tech giants and agile startups investing heavily in FinTech AI.</a:t>
                      </a: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3447025123"/>
                  </a:ext>
                </a:extLst>
              </a:tr>
              <a:tr h="483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⛔ROI Justification: Difficulty in demonstrating tangible returns from AI investments if not properly tracked</a:t>
                      </a: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303994348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19E620C-537E-EC48-D865-72772C259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620" y="6445770"/>
            <a:ext cx="2468380" cy="41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13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C8CD7-4FD0-CE97-B2D4-B413858C9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652" y="365126"/>
            <a:ext cx="10343147" cy="910222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</a:gradFill>
        </p:spPr>
        <p:txBody>
          <a:bodyPr>
            <a:normAutofit/>
          </a:bodyPr>
          <a:lstStyle/>
          <a:p>
            <a:r>
              <a:rPr lang="en-US" sz="3200" b="1" dirty="0"/>
              <a:t>NEXORA’S DATA &amp; AI READINESS: STRENGTHS, GAPS, &amp; RISKS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A1758E-C96A-CABA-04A2-3805E1CAEC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5554843"/>
              </p:ext>
            </p:extLst>
          </p:nvPr>
        </p:nvGraphicFramePr>
        <p:xfrm>
          <a:off x="838200" y="1275348"/>
          <a:ext cx="10688053" cy="509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032">
                  <a:extLst>
                    <a:ext uri="{9D8B030D-6E8A-4147-A177-3AD203B41FA5}">
                      <a16:colId xmlns:a16="http://schemas.microsoft.com/office/drawing/2014/main" val="2229869120"/>
                    </a:ext>
                  </a:extLst>
                </a:gridCol>
                <a:gridCol w="2490536">
                  <a:extLst>
                    <a:ext uri="{9D8B030D-6E8A-4147-A177-3AD203B41FA5}">
                      <a16:colId xmlns:a16="http://schemas.microsoft.com/office/drawing/2014/main" val="1677695793"/>
                    </a:ext>
                  </a:extLst>
                </a:gridCol>
                <a:gridCol w="2367981">
                  <a:extLst>
                    <a:ext uri="{9D8B030D-6E8A-4147-A177-3AD203B41FA5}">
                      <a16:colId xmlns:a16="http://schemas.microsoft.com/office/drawing/2014/main" val="1086633891"/>
                    </a:ext>
                  </a:extLst>
                </a:gridCol>
                <a:gridCol w="2769504">
                  <a:extLst>
                    <a:ext uri="{9D8B030D-6E8A-4147-A177-3AD203B41FA5}">
                      <a16:colId xmlns:a16="http://schemas.microsoft.com/office/drawing/2014/main" val="3409309205"/>
                    </a:ext>
                  </a:extLst>
                </a:gridCol>
              </a:tblGrid>
              <a:tr h="331354">
                <a:tc>
                  <a:txBody>
                    <a:bodyPr/>
                    <a:lstStyle/>
                    <a:p>
                      <a:r>
                        <a:rPr lang="en-US" dirty="0"/>
                        <a:t>Strengths: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Weaknesses (Gaps):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Opportunities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Threats(Risks):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815393"/>
                  </a:ext>
                </a:extLst>
              </a:tr>
              <a:tr h="4733940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</a:t>
                      </a:r>
                      <a:r>
                        <a:rPr lang="en-US" sz="1400" b="1" dirty="0"/>
                        <a:t>Strong Regional Presence:</a:t>
                      </a:r>
                      <a:r>
                        <a:rPr lang="en-US" sz="1400" dirty="0"/>
                        <a:t> Established footprint in high-growth markets (Asia, Africa, Middle East).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Domain Expertise: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Strong foundation in digital payments and micro-lending.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 Executive Team: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Fresh perspectives, likely strong commitment to strategic investments.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Regional Market Knowledge: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Invaluable insights into diverse customer behavior and local contexts.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Existing Digital Infrastructure: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Foundation for data capture and basic processing.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Investment in Data &amp; AI: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Explicit strategic focus and capital allocation.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Innovation-Driven Culture: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Openness to new technologies.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⚠️</a:t>
                      </a:r>
                      <a:r>
                        <a:rPr lang="en-US" sz="1400" b="1" dirty="0"/>
                        <a:t>Potential Data Silos:</a:t>
                      </a:r>
                      <a:r>
                        <a:rPr lang="en-US" sz="1400" dirty="0"/>
                        <a:t> Fragmented data infrastructure across diverse operations.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⚠️</a:t>
                      </a:r>
                      <a:r>
                        <a:rPr lang="en-US" sz="1400" b="1" dirty="0"/>
                        <a:t>Varying Data Maturity:</a:t>
                      </a:r>
                      <a:r>
                        <a:rPr lang="en-US" sz="1400" dirty="0"/>
                        <a:t> Inconsistent data quality and governance standards across regions. 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⚠️</a:t>
                      </a:r>
                      <a:r>
                        <a:rPr lang="en-US" sz="1400" b="1" dirty="0"/>
                        <a:t>Emerging AI Capabilities:</a:t>
                      </a:r>
                      <a:r>
                        <a:rPr lang="en-US" sz="1400" dirty="0"/>
                        <a:t> Currently not yet a global leader in AI sophistication. 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⚠️</a:t>
                      </a:r>
                      <a:r>
                        <a:rPr lang="en-US" sz="1400" b="1" dirty="0"/>
                        <a:t>Talent Gaps:</a:t>
                      </a:r>
                      <a:r>
                        <a:rPr lang="en-US" sz="1400" dirty="0"/>
                        <a:t> Need for specialized AI skills and </a:t>
                      </a:r>
                      <a:r>
                        <a:rPr lang="en-US" sz="1400" dirty="0" err="1"/>
                        <a:t>MLOps</a:t>
                      </a:r>
                      <a:r>
                        <a:rPr lang="en-US" sz="1400" dirty="0"/>
                        <a:t> expertise.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⚠️Data Literacy Across Organization: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Uneven understanding of advanced data and AI concepts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kern="100" dirty="0">
                          <a:effectLst/>
                        </a:rPr>
                        <a:t>⚠️ Insufficient focus on long-term AI ethics, fairness, and auditability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🚀 Leverage existing financial data to build predictive AI models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🚀 Build a regional AI Center of Excellence to close talent and skills gaps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🚀 Become a leader in ethical AI for underserved markets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🚀 Partner with universities/startups for AI R&amp;D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⛔ Regulatory changes in data privacy and AI ethics across regions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⛔ Talent drain or over-reliance on external consultants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⛔ Model bias or inaccuracies affecting trust and credit decisions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⛔AI Talent War: Difficulty in attracting and retaining top-tier AI talent.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⛔Bias &amp; Fairness Issues: Risks associated with biased algorithms in sensitive financial decisions.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⛔Aggressive Competition: Established tech giants and agile startups investing heavily in FinTech AI.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⛔ROI Justification: Difficulty in demonstrating tangible returns from AI investments if not properly tracked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71319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8B9C09A-41A0-647A-1DCA-B5D703DFF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335" y="6443436"/>
            <a:ext cx="2469094" cy="41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933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0F61-587F-1E83-376A-02E40E0E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</a:gradFill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b="1" dirty="0"/>
              <a:t>Strategic Roadmap (Key Initiatives &amp; Timeline)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72BBD-AB78-E871-BEB2-213379EC1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3273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Phase 1: Foundation &amp; Governance (Months 1-12)</a:t>
            </a:r>
            <a:endParaRPr lang="en-US" dirty="0"/>
          </a:p>
          <a:p>
            <a:r>
              <a:rPr lang="en-US" b="1" dirty="0"/>
              <a:t>Data &amp; AI Ecosystem: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Comprehensive data audit &amp; cloud data fabric design.</a:t>
            </a:r>
          </a:p>
          <a:p>
            <a:pPr lvl="1"/>
            <a:r>
              <a:rPr lang="en-US" dirty="0"/>
              <a:t>Establish Global Data Governance Council &amp; implement automated data quality.</a:t>
            </a:r>
          </a:p>
          <a:p>
            <a:r>
              <a:rPr lang="en-US" b="1" dirty="0"/>
              <a:t>AI Product Development: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Launch AI Innovation Lab &amp; rapid prototyping of high-impact MVPs (e.g., initial personalized lending model, enhanced fraud detection).</a:t>
            </a:r>
          </a:p>
          <a:p>
            <a:r>
              <a:rPr lang="en-US" b="1" dirty="0"/>
              <a:t>Talent: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Skills gap analysis &amp; launch of "</a:t>
            </a:r>
            <a:r>
              <a:rPr lang="en-US" dirty="0" err="1"/>
              <a:t>Nexora</a:t>
            </a:r>
            <a:r>
              <a:rPr lang="en-US" dirty="0"/>
              <a:t> AI Academy" internal training.</a:t>
            </a:r>
          </a:p>
          <a:p>
            <a:pPr lvl="1"/>
            <a:r>
              <a:rPr lang="en-US" dirty="0"/>
              <a:t>Recruit core senior AI leadership team.</a:t>
            </a:r>
          </a:p>
          <a:p>
            <a:r>
              <a:rPr lang="en-US" b="1" dirty="0"/>
              <a:t>Responsible AI: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Develop "Responsible AI Policy" &amp; mandatory ethics training.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42094B-BB1B-F451-94BD-881207390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620" y="6445770"/>
            <a:ext cx="2468380" cy="41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693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36578-BD03-FD88-A15A-6A2A047A1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453" y="365125"/>
            <a:ext cx="11273589" cy="1078664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</a:gradFill>
        </p:spPr>
        <p:txBody>
          <a:bodyPr>
            <a:normAutofit/>
          </a:bodyPr>
          <a:lstStyle/>
          <a:p>
            <a:r>
              <a:rPr lang="en-US" b="1" dirty="0"/>
              <a:t>Strategic Roadmap (Key Initiatives &amp; Timeline)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BF870-098D-CD25-ED1F-F896B5C72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Phase 2: Productization &amp; Scaling (Months 13-24)</a:t>
            </a:r>
          </a:p>
          <a:p>
            <a:r>
              <a:rPr lang="en-US" b="1" dirty="0"/>
              <a:t>Data &amp; AI Ecosystem: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Productize high-value data assets.</a:t>
            </a:r>
          </a:p>
          <a:p>
            <a:pPr lvl="1"/>
            <a:r>
              <a:rPr lang="en-US" dirty="0"/>
              <a:t>Implement self-service data platform.</a:t>
            </a:r>
          </a:p>
          <a:p>
            <a:r>
              <a:rPr lang="en-US" b="1" dirty="0"/>
              <a:t>AI Product Development: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Integrate successful AI MVPs into core products (e.g., hyper-personalized CX, dynamic pricing).</a:t>
            </a:r>
          </a:p>
          <a:p>
            <a:pPr lvl="1"/>
            <a:r>
              <a:rPr lang="en-US" dirty="0"/>
              <a:t>Establish </a:t>
            </a:r>
            <a:r>
              <a:rPr lang="en-US" dirty="0" err="1"/>
              <a:t>MLOps</a:t>
            </a:r>
            <a:r>
              <a:rPr lang="en-US" dirty="0"/>
              <a:t> framework for industrializing AI.</a:t>
            </a:r>
          </a:p>
          <a:p>
            <a:r>
              <a:rPr lang="en-US" b="1" dirty="0"/>
              <a:t>Talent: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Global recruitment pipeline for niche AI roles.</a:t>
            </a:r>
          </a:p>
          <a:p>
            <a:pPr lvl="1"/>
            <a:r>
              <a:rPr lang="en-US" dirty="0"/>
              <a:t>Develop AI career progression frameworks.</a:t>
            </a:r>
          </a:p>
          <a:p>
            <a:r>
              <a:rPr lang="en-US" b="1" dirty="0"/>
              <a:t>Responsible AI: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Integrate bias detection/mitigation tools.</a:t>
            </a:r>
          </a:p>
          <a:p>
            <a:pPr lvl="1"/>
            <a:r>
              <a:rPr lang="en-US" dirty="0"/>
              <a:t>Implement Explainable AI (XAI) techniques.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A6645E-F93C-448A-B94E-81AD39575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620" y="6445770"/>
            <a:ext cx="2468380" cy="41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542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423EC-A1B7-7AEF-2475-DD3D7B53A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943225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</a:gradFill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Strategic Roadmap (Key Initiatives &amp; Timeline)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B8B34-4410-2D9B-306B-AB178DB1B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Phase 3: Global Leadership &amp; Continuous Innovation (Months 25-36</a:t>
            </a:r>
          </a:p>
          <a:p>
            <a:r>
              <a:rPr lang="en-US" b="1" dirty="0"/>
              <a:t>Data &amp; AI Ecosystem: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Continuous optimization of data fabric for performance &amp; scalability.</a:t>
            </a:r>
          </a:p>
          <a:p>
            <a:r>
              <a:rPr lang="en-US" b="1" dirty="0"/>
              <a:t>AI Product Development: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Foster "AI experimentation" culture across all product teams.</a:t>
            </a:r>
          </a:p>
          <a:p>
            <a:pPr lvl="1"/>
            <a:r>
              <a:rPr lang="en-US" dirty="0"/>
              <a:t>Launch new AI-native products disrupting traditional financial services.</a:t>
            </a:r>
          </a:p>
          <a:p>
            <a:r>
              <a:rPr lang="en-US" b="1" dirty="0"/>
              <a:t>Talent: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Position </a:t>
            </a:r>
            <a:r>
              <a:rPr lang="en-US" dirty="0" err="1"/>
              <a:t>Nexora</a:t>
            </a:r>
            <a:r>
              <a:rPr lang="en-US" dirty="0"/>
              <a:t> as a global employer of choice for AI professionals.</a:t>
            </a:r>
          </a:p>
          <a:p>
            <a:pPr lvl="1"/>
            <a:r>
              <a:rPr lang="en-US" dirty="0"/>
              <a:t>Sponsor external research/hackathons.</a:t>
            </a:r>
          </a:p>
          <a:p>
            <a:r>
              <a:rPr lang="en-US" b="1" dirty="0"/>
              <a:t>Responsible AI: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Regular AI system audits for fairness &amp; compliance.</a:t>
            </a:r>
          </a:p>
          <a:p>
            <a:pPr lvl="1"/>
            <a:r>
              <a:rPr lang="en-US" dirty="0"/>
              <a:t>Lead industry discussions on ethical AI in fintech.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7B7A5C-E8D6-68B5-49C7-D5B6FB508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620" y="6445770"/>
            <a:ext cx="2468380" cy="41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76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9258B-7EA5-DB92-B7FE-6342B195E61D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</a:gradFill>
        </p:spPr>
        <p:txBody>
          <a:bodyPr>
            <a:normAutofit/>
          </a:bodyPr>
          <a:lstStyle/>
          <a:p>
            <a:r>
              <a:rPr lang="it-IT" sz="4000" b="1" dirty="0"/>
              <a:t>Strategic Model: Nexora AI Excellence Framework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6A2E6-476B-C7EF-233D-6D417DB8A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3273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Four Strategic Pillars</a:t>
            </a:r>
            <a:endParaRPr lang="en-US" dirty="0"/>
          </a:p>
          <a:p>
            <a:r>
              <a:rPr lang="en-US" b="1" dirty="0"/>
              <a:t>Trust &amp; Governance</a:t>
            </a:r>
            <a:r>
              <a:rPr lang="en-US" dirty="0"/>
              <a:t> – Build transparent, compliant AI.</a:t>
            </a:r>
          </a:p>
          <a:p>
            <a:r>
              <a:rPr lang="en-US" b="1" dirty="0"/>
              <a:t>Applied AI</a:t>
            </a:r>
            <a:r>
              <a:rPr lang="en-US" dirty="0"/>
              <a:t> – Focus on lending, fraud detection, smart pricing.</a:t>
            </a:r>
          </a:p>
          <a:p>
            <a:r>
              <a:rPr lang="en-US" b="1" dirty="0"/>
              <a:t>Data Infrastructure</a:t>
            </a:r>
            <a:r>
              <a:rPr lang="en-US" dirty="0"/>
              <a:t> – Cloud-based, real-time, unified data systems.</a:t>
            </a:r>
          </a:p>
          <a:p>
            <a:r>
              <a:rPr lang="en-US" b="1" dirty="0"/>
              <a:t>AI Talent &amp; Culture</a:t>
            </a:r>
            <a:r>
              <a:rPr lang="en-US" dirty="0"/>
              <a:t> – Upskilling, hiring, and partnerships with universities.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3-Year Roadmap (2025–2027)</a:t>
            </a:r>
            <a:endParaRPr lang="en-US" dirty="0"/>
          </a:p>
          <a:p>
            <a:r>
              <a:rPr lang="en-US" b="1" dirty="0"/>
              <a:t>2025</a:t>
            </a:r>
            <a:r>
              <a:rPr lang="en-US" dirty="0"/>
              <a:t>: Appoint Chief AI Officer, establish ethics board, build data lake.</a:t>
            </a:r>
          </a:p>
          <a:p>
            <a:r>
              <a:rPr lang="en-US" b="1" dirty="0"/>
              <a:t>2026</a:t>
            </a:r>
            <a:r>
              <a:rPr lang="en-US" dirty="0"/>
              <a:t>: Launch AI-enabled risk models, chatbots, and dynamic lending engines.</a:t>
            </a:r>
          </a:p>
          <a:p>
            <a:r>
              <a:rPr lang="en-US" b="1" dirty="0"/>
              <a:t>2027</a:t>
            </a:r>
            <a:r>
              <a:rPr lang="en-US" dirty="0"/>
              <a:t>: Expand AI Labs, publish open models, lead on global AI standards.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A2442F-0545-3825-11D9-C7B8A3CFF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620" y="6445770"/>
            <a:ext cx="2468380" cy="41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034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62504-0827-71F7-BC81-B8B775B09A5C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/>
          <a:lstStyle/>
          <a:p>
            <a:pPr algn="ctr"/>
            <a:r>
              <a:rPr lang="en-US" b="1" dirty="0"/>
              <a:t>Success Metrics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1802F-2A80-5BE8-9B0B-8028B8020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Key Performance Indicators (KPIs):</a:t>
            </a:r>
            <a:endParaRPr lang="en-US" dirty="0"/>
          </a:p>
          <a:p>
            <a:r>
              <a:rPr lang="en-US" b="1" dirty="0"/>
              <a:t>Customer Lifetime Value (CLV) Growth:</a:t>
            </a:r>
            <a:r>
              <a:rPr lang="en-US" dirty="0"/>
              <a:t> Target +30%</a:t>
            </a:r>
          </a:p>
          <a:p>
            <a:r>
              <a:rPr lang="en-US" b="1" dirty="0"/>
              <a:t>Operational Cost Reduction:</a:t>
            </a:r>
            <a:r>
              <a:rPr lang="en-US" dirty="0"/>
              <a:t> Target -15% (e.g., reduced manual processing, fewer fraud incidents)</a:t>
            </a:r>
          </a:p>
          <a:p>
            <a:r>
              <a:rPr lang="en-US" b="1" dirty="0"/>
              <a:t>Fraud Detection Rate Improvement:</a:t>
            </a:r>
            <a:r>
              <a:rPr lang="en-US" dirty="0"/>
              <a:t> Target +50%</a:t>
            </a:r>
          </a:p>
          <a:p>
            <a:r>
              <a:rPr lang="en-US" b="1" dirty="0"/>
              <a:t>Time-to-Market for New AI Features:</a:t>
            </a:r>
            <a:r>
              <a:rPr lang="en-US" dirty="0"/>
              <a:t> (e.g., reduce by 20%)</a:t>
            </a:r>
          </a:p>
          <a:p>
            <a:r>
              <a:rPr lang="en-US" b="1" dirty="0"/>
              <a:t>Data Quality Index:</a:t>
            </a:r>
            <a:r>
              <a:rPr lang="en-US" dirty="0"/>
              <a:t> (e.g., target 95% data accuracy)</a:t>
            </a:r>
          </a:p>
          <a:p>
            <a:r>
              <a:rPr lang="en-US" b="1" dirty="0"/>
              <a:t>AI Model Performance:</a:t>
            </a:r>
            <a:r>
              <a:rPr lang="en-US" dirty="0"/>
              <a:t> (e.g., specific accuracy/precision/recall targets per model)</a:t>
            </a:r>
          </a:p>
          <a:p>
            <a:r>
              <a:rPr lang="en-US" b="1" dirty="0"/>
              <a:t>Talent Retention Rate (Data &amp; AI Teams):</a:t>
            </a:r>
            <a:r>
              <a:rPr lang="en-US" dirty="0"/>
              <a:t> (e.g., &gt;90%)</a:t>
            </a:r>
          </a:p>
          <a:p>
            <a:r>
              <a:rPr lang="en-US" b="1" dirty="0"/>
              <a:t>AI Ethical Compliance Score:</a:t>
            </a:r>
            <a:r>
              <a:rPr lang="en-US" dirty="0"/>
              <a:t> (Internal audit score)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D9C63F-CC80-7AF5-96B1-030A98518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620" y="6445770"/>
            <a:ext cx="2468380" cy="41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232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2DC0-C174-196C-5542-12938F8EC5C3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/>
          <a:lstStyle/>
          <a:p>
            <a:pPr algn="ctr"/>
            <a:r>
              <a:rPr lang="en-US" b="1" dirty="0"/>
              <a:t>Recommendations for Success: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53635-F4D0-E1EA-FD14-F69870F8C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9531"/>
            <a:ext cx="10515600" cy="4351338"/>
          </a:xfrm>
          <a:noFill/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Executive Buy-in &amp; Sponsorship: CEO and executive team must champion Data &amp; AI as a core strategic imperative.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Cross-Functional Collaboration: Foster deep collaboration between Data &amp; AI, Product, Engineering, and Risk teams.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Continuous Investment: Allocate consistent resources for technology, talent, and infrastructure.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Agile &amp; Iterative Approach: Embrace experimentation, learn from failures, and rapidly adapt.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Prioritize Responsible AI: Build trust by integrating ethical considerations from first day.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Global-Local Balance: Centralized strategy with flexible regional implementation to address local nuances.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Build a foundational AI capability by investing in data infrastructure, AI talent, and responsible AI governance, to transform </a:t>
            </a:r>
            <a:r>
              <a:rPr lang="en-US" sz="2400" dirty="0" err="1"/>
              <a:t>Nexora</a:t>
            </a:r>
            <a:r>
              <a:rPr lang="en-US" sz="2400" dirty="0"/>
              <a:t> into a trusted AI-first fintech for emerging markets.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400" dirty="0"/>
          </a:p>
          <a:p>
            <a:pPr>
              <a:buFont typeface="Wingdings" panose="05000000000000000000" pitchFamily="2" charset="2"/>
              <a:buChar char="ü"/>
            </a:pPr>
            <a:endParaRPr lang="en-US" sz="2400" dirty="0"/>
          </a:p>
          <a:p>
            <a:pPr>
              <a:buFont typeface="Wingdings" panose="05000000000000000000" pitchFamily="2" charset="2"/>
              <a:buChar char="ü"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249773-7BB4-F2D5-37C6-5B6DA1DC7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620" y="6445770"/>
            <a:ext cx="2468380" cy="41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988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E7BBD-8E4D-F233-ED29-50F3414CC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Call to Action</a:t>
            </a:r>
            <a:br>
              <a:rPr lang="en-US" b="1" dirty="0"/>
            </a:br>
            <a:r>
              <a:rPr lang="en-US" sz="2800" i="1" dirty="0"/>
              <a:t>Let's build </a:t>
            </a:r>
            <a:r>
              <a:rPr lang="en-US" sz="2800" i="1" dirty="0" err="1"/>
              <a:t>Nexora's</a:t>
            </a:r>
            <a:r>
              <a:rPr lang="en-US" sz="2800" i="1" dirty="0"/>
              <a:t> future as a global AI powerhouse in FinTech.</a:t>
            </a:r>
            <a:br>
              <a:rPr lang="en-US" sz="2800" i="1" dirty="0"/>
            </a:br>
            <a:r>
              <a:rPr lang="en-US" sz="2200" dirty="0"/>
              <a:t>Empowering our customers, optimizing our operations, and leading with innovation and trust.</a:t>
            </a:r>
            <a:endParaRPr lang="en-US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7E56B-6631-4DCC-364E-BD662BFD1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Next Steps:</a:t>
            </a:r>
            <a:endParaRPr lang="en-US" dirty="0"/>
          </a:p>
          <a:p>
            <a:r>
              <a:rPr lang="en-US" dirty="0"/>
              <a:t>Formalize Data &amp; AI Task Force.</a:t>
            </a:r>
          </a:p>
          <a:p>
            <a:r>
              <a:rPr lang="en-US" dirty="0"/>
              <a:t>Detailed planning for Phase 1 initiatives.</a:t>
            </a:r>
          </a:p>
          <a:p>
            <a:r>
              <a:rPr lang="en-US" dirty="0"/>
              <a:t>Resource allocation review.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F2B633-4F0E-4D55-83A7-6E1B7BF4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620" y="6445770"/>
            <a:ext cx="2468380" cy="41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931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A6B48-A558-1DB9-3260-AB3953900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8877"/>
            <a:ext cx="10515600" cy="4351338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sz="360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n-US" sz="3600" dirty="0">
                <a:solidFill>
                  <a:schemeClr val="accent1"/>
                </a:solidFill>
              </a:rPr>
              <a:t>				|THANK YOU!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6865E4-EF00-CA4A-A773-4DCBEF90E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620" y="6445770"/>
            <a:ext cx="2468380" cy="41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34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</TotalTime>
  <Words>1492</Words>
  <Application>Microsoft Office PowerPoint</Application>
  <PresentationFormat>Widescreen</PresentationFormat>
  <Paragraphs>156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NEXORA FINTECH:  Unlocking Global Leadership Through Data &amp; AI</vt:lpstr>
      <vt:lpstr>GLOBAL TRENDS &amp; KEY OPPORTUNITIES IN DATA &amp; AI</vt:lpstr>
      <vt:lpstr>SWOT Analysis: Nexora's Internal Readiness for Data &amp; AI Leadership</vt:lpstr>
      <vt:lpstr>SWOT Analysis: Nexora's Internal Readiness for Data &amp; AI Leadership</vt:lpstr>
      <vt:lpstr>NEXORA’S DATA &amp; AI READINESS: STRENGTHS, GAPS, &amp; RISKS</vt:lpstr>
      <vt:lpstr>Strategic Roadmap (Key Initiatives &amp; Timeline)</vt:lpstr>
      <vt:lpstr>Strategic Roadmap (Key Initiatives &amp; Timeline)</vt:lpstr>
      <vt:lpstr>Strategic Roadmap (Key Initiatives &amp; Timeline)</vt:lpstr>
      <vt:lpstr>Strategic Model: Nexora AI Excellence Framework</vt:lpstr>
      <vt:lpstr>Success Metrics &amp; Recommendations</vt:lpstr>
      <vt:lpstr>Recommendations for Success:</vt:lpstr>
      <vt:lpstr>Call to Action Let's build Nexora's future as a global AI powerhouse in FinTech. Empowering our customers, optimizing our operations, and leading with innovation and trust.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 Taiwo</dc:creator>
  <cp:lastModifiedBy>Tj Taiwo</cp:lastModifiedBy>
  <cp:revision>12</cp:revision>
  <dcterms:created xsi:type="dcterms:W3CDTF">2025-06-17T12:40:19Z</dcterms:created>
  <dcterms:modified xsi:type="dcterms:W3CDTF">2025-06-18T16:10:12Z</dcterms:modified>
</cp:coreProperties>
</file>