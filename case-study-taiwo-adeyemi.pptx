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70" r:id="rId5"/>
    <p:sldId id="262" r:id="rId6"/>
    <p:sldId id="263" r:id="rId7"/>
    <p:sldId id="264" r:id="rId8"/>
    <p:sldId id="266" r:id="rId9"/>
    <p:sldId id="271" r:id="rId10"/>
    <p:sldId id="267" r:id="rId11"/>
    <p:sldId id="268" r:id="rId12"/>
    <p:sldId id="272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21F4078-9F82-4FFF-828A-3B3A390728BD}">
          <p14:sldIdLst>
            <p14:sldId id="256"/>
            <p14:sldId id="257"/>
            <p14:sldId id="260"/>
            <p14:sldId id="270"/>
            <p14:sldId id="262"/>
            <p14:sldId id="263"/>
            <p14:sldId id="264"/>
            <p14:sldId id="266"/>
            <p14:sldId id="271"/>
            <p14:sldId id="267"/>
            <p14:sldId id="268"/>
            <p14:sldId id="272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136432-73FA-4C97-A2D8-0240F8911BBE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568CCE-1BAD-4594-804D-3C3C3FEAAC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1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C0D8-CB23-BEC3-C803-B63B764D9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A8E065-F057-EAD8-396E-1B0B323CA9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C7A60-4AAC-EF7B-6793-81E8A2A8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23DBF-CB22-40A9-55BF-FB42F955D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3EF0A-4112-5D79-9CED-301C0590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28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F2EAC-C664-6523-8B1B-97ED5EA45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F476D-9386-9B7F-D72C-EA1853754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9DF2-A76C-17C8-20E5-ADDE8362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5231B-1598-D204-0FF0-08D7F4DF2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2D598-79DE-1507-6563-AFBE0FF8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9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771CE-C779-248F-EB82-4A7362A91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9FAE2-A704-C06D-820D-0BF9C14B8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6AC13-0230-0D5E-18DA-1D0C5D67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CEA2D-0D39-2CC3-4D48-182643CD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F0AC3-16E5-B808-BCB5-5FB82652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3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7810-73B4-7154-4805-FF617CCE4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E86B5-D535-0C4A-6414-30A87B296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866BB1-4766-6D6A-9A80-0611C9AB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45B7-FAAE-DF3C-F02C-1A0762D04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AD4E6-0B3E-E880-33B1-7257EC7FA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BA459-39BF-C115-A0E7-689F23451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9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31BF4-EA83-0375-E329-CF90B189B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F8395-948B-EDF1-D8A3-8B1630097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B789A-11DB-6A38-FBB8-FCAD73CA5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CD894D-0FCD-152F-F1B4-E44E83FE60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E9B724-4065-EA8A-EF29-1374B73343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1BEBDA-7B52-A2D8-2D8B-943E1CC6B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E341F8-6008-2192-7259-9353C9E69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37C3B3-EB63-E279-9405-1A9C018FD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734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61E92-EA9F-7E9C-C8F3-4287A7028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9FD4FB-A8D2-C58C-A9B1-50A5B9B3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7863B0-E460-E26D-CC18-386F854A0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CFDE6-06D7-26B2-026A-0F6FAA923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07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AD250-4AEC-A223-7E43-4670DD725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F9029B-648A-9BEC-BD02-DABB61A04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6F324-42CE-FF81-772E-5EB927A9E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DFBDD-94A3-11BB-F0CA-B451B0A3E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73491-E65D-0B91-14CB-D8F8AF0A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CE0FE-A059-31FE-91E2-D098FD259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ED17D-B75C-F1F4-9AA3-7FA04C0EF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14E12-9AD4-BD78-FF79-3D6191DDE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1DD25-6FF8-418C-23B4-080BBDDB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242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E506D-BE6D-0C39-C6D4-8F69EB3A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341426-53C0-9FDB-2A35-BAB9BD145E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FB5C7-0FC3-ED6F-DE89-F604C142D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6F53ED-3357-C313-CB03-5CDD68086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2C10D6-1BB6-79A6-6650-F1F7A533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AF657-8DD2-60B9-487C-C7999D41C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75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8F78-BDFA-4890-4435-8C55EF743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A55E09-04FC-D9FF-B3B1-5C7AD6DEF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6131C-12C4-3B69-060D-3E1C0E923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A3B63-9CD1-450A-09D9-59ADE6D02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E6784-31C8-8D72-9433-9BC8696EC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01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D74157-85C4-39E4-D174-D5EF5E958B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951171-36FA-285A-5E75-877E1E314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EEEDC-BA11-EBC7-1B07-8267A98B7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8C021-D545-9CF6-9EE0-216426EE5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76153-BD0B-3A7E-BF41-EAEA96237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677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A5F85C-735A-4875-F357-F23637C8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F6F8C-597E-50A2-15BC-FF514B357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4BE65-0372-47E1-2772-850BE5B2B5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11014-087E-4149-B8B5-24E3F530271B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FD143-62C0-5ADC-8635-892D62EA5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A316A-236B-A670-A1B9-EFA6107F5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40642-A19E-4FA2-9C77-3DB41BA61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3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dar-rose.com/blog/ai-driving-smarter-faster-credit-risk-decisions-for-bank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dar-rose.com/blog/ai-driving-smarter-faster-credit-risk-decisions-for-bank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9134D4F-C094-8DF4-912A-242DE51809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7B1E27-03E8-E76E-0D79-6F235C2EA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7251" y="1041400"/>
            <a:ext cx="11509949" cy="2387600"/>
          </a:xfrm>
          <a:scene3d>
            <a:camera prst="orthographicFront"/>
            <a:lightRig rig="threePt" dir="t"/>
          </a:scene3d>
          <a:sp3d extrusionH="6350" contourW="6350">
            <a:bevelT w="6350"/>
            <a:bevelB w="6350"/>
          </a:sp3d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NEXORA FINTECH: 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Unlocking Global Leadership Through Data &amp;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9C330-D5E6-0D75-E085-193B993352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49492"/>
            <a:ext cx="7365167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BY:</a:t>
            </a:r>
          </a:p>
          <a:p>
            <a:r>
              <a:rPr lang="en-US" dirty="0">
                <a:solidFill>
                  <a:schemeClr val="bg1"/>
                </a:solidFill>
              </a:rPr>
              <a:t>Taiwo ADEYEMI</a:t>
            </a:r>
          </a:p>
          <a:p>
            <a:r>
              <a:rPr lang="en-US" dirty="0">
                <a:solidFill>
                  <a:schemeClr val="bg1"/>
                </a:solidFill>
              </a:rPr>
              <a:t>Email: adetwins2005@gmail.com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31679C-8914-62F1-8E03-C85CB35563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22905" y="6405254"/>
            <a:ext cx="2469094" cy="4145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FB1F35-EAC9-4387-BC9C-E46A10BEE520}"/>
              </a:ext>
            </a:extLst>
          </p:cNvPr>
          <p:cNvSpPr txBox="1"/>
          <p:nvPr/>
        </p:nvSpPr>
        <p:spPr>
          <a:xfrm>
            <a:off x="251085" y="6565692"/>
            <a:ext cx="42759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Image: </a:t>
            </a:r>
            <a:r>
              <a:rPr lang="en-US" sz="1400" dirty="0" err="1"/>
              <a:t>StockCake</a:t>
            </a:r>
            <a:r>
              <a:rPr lang="en-US" sz="1400" dirty="0"/>
              <a:t>-Intelligence Meets Data_1750151333</a:t>
            </a:r>
          </a:p>
        </p:txBody>
      </p:sp>
    </p:spTree>
    <p:extLst>
      <p:ext uri="{BB962C8B-B14F-4D97-AF65-F5344CB8AC3E}">
        <p14:creationId xmlns:p14="http://schemas.microsoft.com/office/powerpoint/2010/main" val="301620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5815-E664-5E5E-9EB8-1658FF07D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08645"/>
          </a:xfrm>
          <a:gradFill>
            <a:gsLst>
              <a:gs pos="700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</p:spPr>
        <p:txBody>
          <a:bodyPr/>
          <a:lstStyle/>
          <a:p>
            <a:pPr algn="ctr"/>
            <a:r>
              <a:rPr lang="en-US" b="1" dirty="0"/>
              <a:t>GLOBAL TRENDS &amp; KEY OPPORTUNITIES IN DATA &amp; AI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E46906-958F-8CA2-E8D8-FB1E99D2C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340705"/>
              </p:ext>
            </p:extLst>
          </p:nvPr>
        </p:nvGraphicFramePr>
        <p:xfrm>
          <a:off x="838200" y="2218214"/>
          <a:ext cx="10515600" cy="3566160"/>
        </p:xfrm>
        <a:graphic>
          <a:graphicData uri="http://schemas.openxmlformats.org/drawingml/2006/table">
            <a:tbl>
              <a:tblPr/>
              <a:tblGrid>
                <a:gridCol w="4813092">
                  <a:extLst>
                    <a:ext uri="{9D8B030D-6E8A-4147-A177-3AD203B41FA5}">
                      <a16:colId xmlns:a16="http://schemas.microsoft.com/office/drawing/2014/main" val="632748414"/>
                    </a:ext>
                  </a:extLst>
                </a:gridCol>
                <a:gridCol w="5702508">
                  <a:extLst>
                    <a:ext uri="{9D8B030D-6E8A-4147-A177-3AD203B41FA5}">
                      <a16:colId xmlns:a16="http://schemas.microsoft.com/office/drawing/2014/main" val="11081999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Trends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Key </a:t>
                      </a:r>
                      <a:r>
                        <a:rPr lang="en-US" b="1" dirty="0" err="1"/>
                        <a:t>Opportunites</a:t>
                      </a:r>
                      <a:r>
                        <a:rPr lang="en-US" b="1" dirty="0"/>
                        <a:t> for </a:t>
                      </a:r>
                      <a:r>
                        <a:rPr lang="en-US" b="1" dirty="0" err="1"/>
                        <a:t>Nexora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3427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📈 Rise of Embedded AI in Digital Payments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 fraud detection, credit scoring, and customer verification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854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🌍 Financial Inclusion through 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Design inclusive credit algorithms for underserved populations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467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⚖️ AI Regulation &amp; Ethics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Lead with transparent, bias-free AI systems to build trust in emerging markets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5588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📡 Real-time Data Pipelines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Deploy streaming data systems for instant loan approvals and user insights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758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it-IT"/>
                        <a:t>🤖 Generative AI in Customer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Deploy AI agents for 24/7 multilingual support across continents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754324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EB982D3-B6E5-1CAF-CB2F-C0F78B11B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9B69D3-D58D-6A7F-E2E8-ADC2810F8E1D}"/>
              </a:ext>
            </a:extLst>
          </p:cNvPr>
          <p:cNvSpPr txBox="1"/>
          <p:nvPr/>
        </p:nvSpPr>
        <p:spPr>
          <a:xfrm>
            <a:off x="2500" y="6567825"/>
            <a:ext cx="44945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i="1" dirty="0"/>
              <a:t>Visual Source: </a:t>
            </a:r>
            <a:r>
              <a:rPr lang="en-US" sz="1200" dirty="0"/>
              <a:t>adapted from common strategic analysis models.</a:t>
            </a:r>
          </a:p>
        </p:txBody>
      </p:sp>
    </p:spTree>
    <p:extLst>
      <p:ext uri="{BB962C8B-B14F-4D97-AF65-F5344CB8AC3E}">
        <p14:creationId xmlns:p14="http://schemas.microsoft.com/office/powerpoint/2010/main" val="1919101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E2B3D-30D2-997A-821E-5AFDE0B85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882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SWOT Analysis: </a:t>
            </a:r>
            <a:r>
              <a:rPr lang="en-US" b="1" dirty="0" err="1"/>
              <a:t>Nexora's</a:t>
            </a:r>
            <a:r>
              <a:rPr lang="en-US" b="1" dirty="0"/>
              <a:t> Internal Readiness for Data &amp; AI Leadership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71E77FC-98ED-C56F-5D53-2D0ADA10E29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77616077"/>
              </p:ext>
            </p:extLst>
          </p:nvPr>
        </p:nvGraphicFramePr>
        <p:xfrm>
          <a:off x="838200" y="1753850"/>
          <a:ext cx="10515600" cy="45635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47358">
                  <a:extLst>
                    <a:ext uri="{9D8B030D-6E8A-4147-A177-3AD203B41FA5}">
                      <a16:colId xmlns:a16="http://schemas.microsoft.com/office/drawing/2014/main" val="1924011767"/>
                    </a:ext>
                  </a:extLst>
                </a:gridCol>
                <a:gridCol w="5368242">
                  <a:extLst>
                    <a:ext uri="{9D8B030D-6E8A-4147-A177-3AD203B41FA5}">
                      <a16:colId xmlns:a16="http://schemas.microsoft.com/office/drawing/2014/main" val="2480812953"/>
                    </a:ext>
                  </a:extLst>
                </a:gridCol>
              </a:tblGrid>
              <a:tr h="45617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Strengths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Weaknesses (Gaps)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430087757"/>
                  </a:ext>
                </a:extLst>
              </a:tr>
              <a:tr h="5194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✅ Agile and tech-savvy teams with fintech experience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⚠️ Limited in-house AI/ML expertise and data engineering capability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504193726"/>
                  </a:ext>
                </a:extLst>
              </a:tr>
              <a:tr h="5194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✅ Solid digital infrastructure from lending and payments systems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⚠️ Siloed data with no centralized data platform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372081536"/>
                  </a:ext>
                </a:extLst>
              </a:tr>
              <a:tr h="5194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✅ Strong executive commitment to innovation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⚠️ Lack of formal processes for AI model development, deployment, and governance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979506993"/>
                  </a:ext>
                </a:extLst>
              </a:tr>
              <a:tr h="5194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✅ Culture of speed and experimentation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⚠️ Insufficient focus on long-term AI ethics, fairness, and auditability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74551891"/>
                  </a:ext>
                </a:extLst>
              </a:tr>
              <a:tr h="5194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✅ </a:t>
                      </a:r>
                      <a:r>
                        <a:rPr lang="en-US" sz="1600" b="1" dirty="0"/>
                        <a:t>Strong Regional Presence:</a:t>
                      </a:r>
                      <a:r>
                        <a:rPr lang="en-US" sz="1600" dirty="0"/>
                        <a:t> Established footprint in high-growth markets (Asia, Africa, Middle East).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  <a:r>
                        <a:rPr lang="en-US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Potential Data Silos: </a:t>
                      </a:r>
                      <a:r>
                        <a:rPr lang="en-US" sz="1600" dirty="0"/>
                        <a:t>Fragmented data infrastructure across diverse operations.</a:t>
                      </a: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942886899"/>
                  </a:ext>
                </a:extLst>
              </a:tr>
              <a:tr h="669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Investment in Data &amp; AI: Explicit strategic focus and capital allocation.</a:t>
                      </a: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  <a:r>
                        <a:rPr lang="en-US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 Literacy Across Organization: Uneven understanding of advanced data and AI concepts</a:t>
                      </a: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411365359"/>
                  </a:ext>
                </a:extLst>
              </a:tr>
              <a:tr h="6694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 </a:t>
                      </a:r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Innovation-Driven Culture: Openness to new technologies</a:t>
                      </a: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⚠️</a:t>
                      </a:r>
                      <a:r>
                        <a:rPr lang="en-US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Emerging AI Capabilities: Currently not yet a global leader in AI sophistication</a:t>
                      </a: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27491264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C272BD4-EC37-DA30-1220-E123F4F77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EE4AB2F-2DCE-9123-47B5-206A53DB78E4}"/>
              </a:ext>
            </a:extLst>
          </p:cNvPr>
          <p:cNvSpPr txBox="1"/>
          <p:nvPr/>
        </p:nvSpPr>
        <p:spPr>
          <a:xfrm>
            <a:off x="108679" y="6567311"/>
            <a:ext cx="6472003" cy="29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2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Sources: https://www.cedar-rose.com/blog/ai-driving-smarter-faster-credit-risk-decisions-for-banks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664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0EAE4F-D6CD-2C12-5596-7DE012FB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9AEE7-D1E1-04CD-B897-DB8E2DD75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8822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</p:spPr>
        <p:txBody>
          <a:bodyPr>
            <a:noAutofit/>
          </a:bodyPr>
          <a:lstStyle/>
          <a:p>
            <a:pPr algn="ctr"/>
            <a:r>
              <a:rPr lang="en-US" sz="4000" b="1" dirty="0"/>
              <a:t>SWOT Analysis: </a:t>
            </a:r>
            <a:r>
              <a:rPr lang="en-US" sz="4000" b="1" dirty="0" err="1"/>
              <a:t>Nexora's</a:t>
            </a:r>
            <a:r>
              <a:rPr lang="en-US" sz="4000" b="1" dirty="0"/>
              <a:t> Internal Readiness for Data &amp; AI Leadership</a:t>
            </a:r>
            <a:endParaRPr lang="en-US" sz="4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A22F913-27CF-9F55-1110-2579EED61A2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22933681"/>
              </p:ext>
            </p:extLst>
          </p:nvPr>
        </p:nvGraphicFramePr>
        <p:xfrm>
          <a:off x="838200" y="1825625"/>
          <a:ext cx="10515600" cy="40921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175405">
                  <a:extLst>
                    <a:ext uri="{9D8B030D-6E8A-4147-A177-3AD203B41FA5}">
                      <a16:colId xmlns:a16="http://schemas.microsoft.com/office/drawing/2014/main" val="4144012510"/>
                    </a:ext>
                  </a:extLst>
                </a:gridCol>
                <a:gridCol w="5340195">
                  <a:extLst>
                    <a:ext uri="{9D8B030D-6E8A-4147-A177-3AD203B41FA5}">
                      <a16:colId xmlns:a16="http://schemas.microsoft.com/office/drawing/2014/main" val="1588299224"/>
                    </a:ext>
                  </a:extLst>
                </a:gridCol>
              </a:tblGrid>
              <a:tr h="67473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Opportunities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Threats (Risks)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1496197906"/>
                  </a:ext>
                </a:extLst>
              </a:tr>
              <a:tr h="54023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🚀 Leverage existing financial data to build predictive AI models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⛔ Regulatory changes in data privacy and AI ethics across regions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4016976434"/>
                  </a:ext>
                </a:extLst>
              </a:tr>
              <a:tr h="61323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🚀 Build a regional AI Center of Excellence to close talent and skills gaps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⛔ Talent drain or over-reliance on external consultants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609492930"/>
                  </a:ext>
                </a:extLst>
              </a:tr>
              <a:tr h="65947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🚀 Become a leader in ethical AI for underserved markets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⛔ Model bias or inaccuracies affecting trust and credit decisions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2049433271"/>
                  </a:ext>
                </a:extLst>
              </a:tr>
              <a:tr h="483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🚀 Partner with universities/startups for AI R&amp;D</a:t>
                      </a:r>
                      <a:endParaRPr lang="en-US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</a:rPr>
                        <a:t>⛔ Execution risk due to simultaneous strategic transformations</a:t>
                      </a: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373088884"/>
                  </a:ext>
                </a:extLst>
              </a:tr>
              <a:tr h="483537">
                <a:tc row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⛔Aggressive Competition: Established tech giants and agile startups investing heavily in FinTech AI.</a:t>
                      </a: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447025123"/>
                  </a:ext>
                </a:extLst>
              </a:tr>
              <a:tr h="483537">
                <a:tc v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3" marR="4693" marT="4693" marB="46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⛔ROI Justification: Difficulty in demonstrating tangible returns from AI investments if not properly tracked</a:t>
                      </a:r>
                    </a:p>
                  </a:txBody>
                  <a:tcPr marL="4693" marR="4693" marT="4693" marB="4693" anchor="ctr"/>
                </a:tc>
                <a:extLst>
                  <a:ext uri="{0D108BD9-81ED-4DB2-BD59-A6C34878D82A}">
                    <a16:rowId xmlns:a16="http://schemas.microsoft.com/office/drawing/2014/main" val="303994348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919E620C-537E-EC48-D865-72772C259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DAAB15-CCB5-32DF-C916-5DBF5351F169}"/>
              </a:ext>
            </a:extLst>
          </p:cNvPr>
          <p:cNvSpPr txBox="1"/>
          <p:nvPr/>
        </p:nvSpPr>
        <p:spPr>
          <a:xfrm>
            <a:off x="108679" y="6567311"/>
            <a:ext cx="6472003" cy="292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</a:pPr>
            <a:r>
              <a:rPr lang="en-US" sz="12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Sources: https://www.cedar-rose.com/blog/ai-driving-smarter-faster-credit-risk-decisions-for-banks</a:t>
            </a:r>
            <a:endParaRPr lang="en-US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13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0F61-587F-1E83-376A-02E40E0E6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814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b="1" dirty="0"/>
              <a:t>Strategic Roadmap (Key Initiatives &amp; Timeline)</a:t>
            </a:r>
            <a:br>
              <a:rPr lang="en-US" b="1" dirty="0"/>
            </a:br>
            <a:r>
              <a:rPr lang="en-US" sz="3100" b="1" dirty="0"/>
              <a:t>(Three Years Strategic Roadmaps: 2025 – 2027)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72BBD-AB78-E871-BEB2-213379EC1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3273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Phase 1: Foundation &amp; Governance (Year: 2025)</a:t>
            </a:r>
            <a:endParaRPr lang="en-US" dirty="0"/>
          </a:p>
          <a:p>
            <a:r>
              <a:rPr lang="en-US" b="1" dirty="0"/>
              <a:t>Data &amp; AI Ecosystem: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Comprehensive data audit &amp; cloud data fabric design.</a:t>
            </a:r>
          </a:p>
          <a:p>
            <a:pPr lvl="1"/>
            <a:r>
              <a:rPr lang="en-US" dirty="0"/>
              <a:t>Establish Global Data Governance Council &amp; implement automated data quality.</a:t>
            </a:r>
          </a:p>
          <a:p>
            <a:r>
              <a:rPr lang="en-US" b="1" dirty="0"/>
              <a:t>AI Product Development: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Launch AI Innovation Lab &amp; rapid prototyping of high-impact MVPs (e.g., initial personalized lending model, enhanced fraud detection).</a:t>
            </a:r>
          </a:p>
          <a:p>
            <a:r>
              <a:rPr lang="en-US" b="1" dirty="0"/>
              <a:t>Talent: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Skills gap analysis &amp; launch of "</a:t>
            </a:r>
            <a:r>
              <a:rPr lang="en-US" dirty="0" err="1"/>
              <a:t>Nexora</a:t>
            </a:r>
            <a:r>
              <a:rPr lang="en-US" dirty="0"/>
              <a:t> AI Academy" internal training and partner with universities.</a:t>
            </a:r>
          </a:p>
          <a:p>
            <a:pPr lvl="1"/>
            <a:r>
              <a:rPr lang="en-US" dirty="0"/>
              <a:t>Recruit core senior AI leadership team.</a:t>
            </a:r>
          </a:p>
          <a:p>
            <a:r>
              <a:rPr lang="en-US" b="1" dirty="0"/>
              <a:t>Responsible AI: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Develop "Responsible AI Policy" &amp; mandatory ethics training.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42094B-BB1B-F451-94BD-881207390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93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BF870-098D-CD25-ED1F-F896B5C7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Phase 2: Productization &amp; Scaling (Year: 2026)</a:t>
            </a:r>
          </a:p>
          <a:p>
            <a:r>
              <a:rPr lang="en-US" b="1" dirty="0"/>
              <a:t>Data &amp; AI Ecosystem: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Productize high-value data assets.</a:t>
            </a:r>
          </a:p>
          <a:p>
            <a:pPr lvl="1"/>
            <a:r>
              <a:rPr lang="en-US" dirty="0"/>
              <a:t>Implement self-service data platform.</a:t>
            </a:r>
          </a:p>
          <a:p>
            <a:r>
              <a:rPr lang="en-US" b="1" dirty="0"/>
              <a:t>AI Product Development: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Integrate successful AI MVPs into core products (e.g., hyper-personalized CX, dynamic pricing).</a:t>
            </a:r>
          </a:p>
          <a:p>
            <a:pPr lvl="1"/>
            <a:r>
              <a:rPr lang="en-US" dirty="0"/>
              <a:t>Establish </a:t>
            </a:r>
            <a:r>
              <a:rPr lang="en-US" dirty="0" err="1"/>
              <a:t>MLOps</a:t>
            </a:r>
            <a:r>
              <a:rPr lang="en-US" dirty="0"/>
              <a:t> framework for industrializing AI.</a:t>
            </a:r>
          </a:p>
          <a:p>
            <a:r>
              <a:rPr lang="en-US" b="1" dirty="0"/>
              <a:t>Talent: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Global recruitment pipeline for niche AI roles.</a:t>
            </a:r>
          </a:p>
          <a:p>
            <a:pPr lvl="1"/>
            <a:r>
              <a:rPr lang="en-US" dirty="0"/>
              <a:t>Develop AI career progression frameworks.</a:t>
            </a:r>
          </a:p>
          <a:p>
            <a:r>
              <a:rPr lang="en-US" b="1" dirty="0"/>
              <a:t>Responsible AI: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Integrate bias detection/mitigation tools.</a:t>
            </a:r>
          </a:p>
          <a:p>
            <a:pPr lvl="1"/>
            <a:r>
              <a:rPr lang="en-US" dirty="0"/>
              <a:t>Implement Explainable AI (XAI) techniques.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A6645E-F93C-448A-B94E-81AD39575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EC96FF9-B9BF-3819-A9BA-9E5E7C3FA944}"/>
              </a:ext>
            </a:extLst>
          </p:cNvPr>
          <p:cNvSpPr txBox="1">
            <a:spLocks/>
          </p:cNvSpPr>
          <p:nvPr/>
        </p:nvSpPr>
        <p:spPr>
          <a:xfrm>
            <a:off x="838200" y="363074"/>
            <a:ext cx="10515600" cy="132814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/>
              <a:t>Strategic Roadmap (Key Initiatives &amp; Timeline)</a:t>
            </a:r>
            <a:br>
              <a:rPr lang="en-US" b="1"/>
            </a:br>
            <a:r>
              <a:rPr lang="en-US" sz="3100" b="1"/>
              <a:t>(Three Years Strategic Roadmaps: 2025 – 2027)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89542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B8B34-4410-2D9B-306B-AB178DB1B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Phase 3: Global Leadership &amp; Continuous Innovation (Year: 2027)</a:t>
            </a:r>
          </a:p>
          <a:p>
            <a:r>
              <a:rPr lang="en-US" b="1" dirty="0"/>
              <a:t>Data &amp; AI Ecosystem: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Continuous optimization of data fabric for performance &amp; scalability.</a:t>
            </a:r>
          </a:p>
          <a:p>
            <a:r>
              <a:rPr lang="en-US" b="1" dirty="0"/>
              <a:t>AI Product Development: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Foster "AI experimentation" culture across all product teams.</a:t>
            </a:r>
          </a:p>
          <a:p>
            <a:pPr lvl="1"/>
            <a:r>
              <a:rPr lang="en-US" dirty="0"/>
              <a:t>Launch new AI-native products disrupting traditional financial services.</a:t>
            </a:r>
          </a:p>
          <a:p>
            <a:r>
              <a:rPr lang="en-US" b="1" dirty="0"/>
              <a:t>Talent: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Position </a:t>
            </a:r>
            <a:r>
              <a:rPr lang="en-US" dirty="0" err="1"/>
              <a:t>Nexora</a:t>
            </a:r>
            <a:r>
              <a:rPr lang="en-US" dirty="0"/>
              <a:t> as a global employer of choice for AI professionals.</a:t>
            </a:r>
          </a:p>
          <a:p>
            <a:pPr lvl="1"/>
            <a:r>
              <a:rPr lang="en-US" dirty="0"/>
              <a:t>Sponsor external research/hackathons.</a:t>
            </a:r>
          </a:p>
          <a:p>
            <a:r>
              <a:rPr lang="en-US" b="1" dirty="0"/>
              <a:t>Responsible AI: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Regular AI system audits for fairness &amp; compliance.</a:t>
            </a:r>
          </a:p>
          <a:p>
            <a:pPr lvl="1"/>
            <a:r>
              <a:rPr lang="en-US" dirty="0"/>
              <a:t>Lead industry discussions on ethical AI in fintech.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7B7A5C-E8D6-68B5-49C7-D5B6FB508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2D6817F-7876-831E-D645-9CFE5D67B9AC}"/>
              </a:ext>
            </a:extLst>
          </p:cNvPr>
          <p:cNvSpPr txBox="1">
            <a:spLocks/>
          </p:cNvSpPr>
          <p:nvPr/>
        </p:nvSpPr>
        <p:spPr>
          <a:xfrm>
            <a:off x="838200" y="363074"/>
            <a:ext cx="10515600" cy="132814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shape">
              <a:fillToRect l="50000" t="50000" r="50000" b="50000"/>
            </a:path>
          </a:gradFill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Strategic Roadmap (Key Initiatives &amp; Timeline)</a:t>
            </a:r>
            <a:br>
              <a:rPr lang="en-US" b="1" dirty="0"/>
            </a:br>
            <a:r>
              <a:rPr lang="en-US" sz="3100" b="1" dirty="0"/>
              <a:t>(Three Years Strategic Roadmaps: 2025 – 2027)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676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62504-0827-71F7-BC81-B8B775B09A5C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b="1" dirty="0"/>
              <a:t>Success Metrics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1802F-2A80-5BE8-9B0B-8028B8020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Key Performance Indicators (KPIs):</a:t>
            </a:r>
            <a:endParaRPr lang="en-US" dirty="0"/>
          </a:p>
          <a:p>
            <a:r>
              <a:rPr lang="en-US" b="1" dirty="0"/>
              <a:t>Customer Lifetime Value (CLV) Growth:</a:t>
            </a:r>
            <a:r>
              <a:rPr lang="en-US" dirty="0"/>
              <a:t> Target +30%</a:t>
            </a:r>
          </a:p>
          <a:p>
            <a:r>
              <a:rPr lang="en-US" b="1" dirty="0"/>
              <a:t>Operational Cost Reduction:</a:t>
            </a:r>
            <a:r>
              <a:rPr lang="en-US" dirty="0"/>
              <a:t> Target -15% (e.g., reduced manual processing, fewer fraud incidents)</a:t>
            </a:r>
          </a:p>
          <a:p>
            <a:r>
              <a:rPr lang="en-US" b="1" dirty="0"/>
              <a:t>Fraud Detection Rate Improvement:</a:t>
            </a:r>
            <a:r>
              <a:rPr lang="en-US" dirty="0"/>
              <a:t> Target +50%</a:t>
            </a:r>
          </a:p>
          <a:p>
            <a:r>
              <a:rPr lang="en-US" b="1" dirty="0"/>
              <a:t>Time-to-Market for New AI Features:</a:t>
            </a:r>
            <a:r>
              <a:rPr lang="en-US" dirty="0"/>
              <a:t> (e.g., reduce by 20%)</a:t>
            </a:r>
          </a:p>
          <a:p>
            <a:r>
              <a:rPr lang="en-US" b="1" dirty="0"/>
              <a:t>Data Quality Index:</a:t>
            </a:r>
            <a:r>
              <a:rPr lang="en-US" dirty="0"/>
              <a:t> (e.g., target 95% data accuracy)</a:t>
            </a:r>
          </a:p>
          <a:p>
            <a:r>
              <a:rPr lang="en-US" b="1" dirty="0"/>
              <a:t>AI Model Performance:</a:t>
            </a:r>
            <a:r>
              <a:rPr lang="en-US" dirty="0"/>
              <a:t> (e.g., specific accuracy/precision/recall targets per model)</a:t>
            </a:r>
          </a:p>
          <a:p>
            <a:r>
              <a:rPr lang="en-US" b="1" dirty="0"/>
              <a:t>Talent Retention Rate (Data &amp; AI Teams):</a:t>
            </a:r>
            <a:r>
              <a:rPr lang="en-US" dirty="0"/>
              <a:t> (e.g., &gt;90%)</a:t>
            </a:r>
          </a:p>
          <a:p>
            <a:r>
              <a:rPr lang="en-US" b="1" dirty="0"/>
              <a:t>AI Ethical Compliance Score:</a:t>
            </a:r>
            <a:r>
              <a:rPr lang="en-US" dirty="0"/>
              <a:t> (Internal audit score)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D9C63F-CC80-7AF5-96B1-030A98518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232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32738-5681-8CE0-46CE-7488BDB1E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7E1EB-4AFA-C4CA-DEE6-29A5E4AB1C69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b="1" dirty="0"/>
              <a:t>Success Metrics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16C1C-5265-D53E-3E88-1E5B70059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Key Performance Indicators (KPIs):</a:t>
            </a:r>
            <a:endParaRPr lang="en-US" dirty="0"/>
          </a:p>
          <a:p>
            <a:r>
              <a:rPr lang="en-US" b="1" dirty="0"/>
              <a:t>Customer Lifetime Value (CLV) Growth:</a:t>
            </a:r>
            <a:r>
              <a:rPr lang="en-US" dirty="0"/>
              <a:t> Target +30%</a:t>
            </a:r>
          </a:p>
          <a:p>
            <a:r>
              <a:rPr lang="en-US" b="1" dirty="0"/>
              <a:t>Operational Cost Reduction:</a:t>
            </a:r>
            <a:r>
              <a:rPr lang="en-US" dirty="0"/>
              <a:t> Target -15% (e.g., reduced manual processing, fewer fraud incidents)</a:t>
            </a:r>
          </a:p>
          <a:p>
            <a:r>
              <a:rPr lang="en-US" b="1" dirty="0"/>
              <a:t>Fraud Detection Rate Improvement:</a:t>
            </a:r>
            <a:r>
              <a:rPr lang="en-US" dirty="0"/>
              <a:t> Target +50%</a:t>
            </a:r>
          </a:p>
          <a:p>
            <a:r>
              <a:rPr lang="en-US" b="1" dirty="0"/>
              <a:t>Time-to-Market for New AI Features:</a:t>
            </a:r>
            <a:r>
              <a:rPr lang="en-US" dirty="0"/>
              <a:t> (e.g., reduce by 20%)</a:t>
            </a:r>
          </a:p>
          <a:p>
            <a:r>
              <a:rPr lang="en-US" b="1" dirty="0"/>
              <a:t>Data Quality Index:</a:t>
            </a:r>
            <a:r>
              <a:rPr lang="en-US" dirty="0"/>
              <a:t> (e.g., target 95% data accuracy)</a:t>
            </a:r>
          </a:p>
          <a:p>
            <a:r>
              <a:rPr lang="en-US" b="1" dirty="0"/>
              <a:t>AI Model Performance:</a:t>
            </a:r>
            <a:r>
              <a:rPr lang="en-US" dirty="0"/>
              <a:t> (e.g., specific accuracy/precision/recall targets per model)</a:t>
            </a:r>
          </a:p>
          <a:p>
            <a:r>
              <a:rPr lang="en-US" b="1" dirty="0"/>
              <a:t>Talent Retention Rate (Data &amp; AI Teams):</a:t>
            </a:r>
            <a:r>
              <a:rPr lang="en-US" dirty="0"/>
              <a:t> (e.g., &gt;90%)</a:t>
            </a:r>
          </a:p>
          <a:p>
            <a:r>
              <a:rPr lang="en-US" b="1" dirty="0"/>
              <a:t>AI Ethical Compliance Score:</a:t>
            </a:r>
            <a:r>
              <a:rPr lang="en-US" dirty="0"/>
              <a:t> (Internal audit score)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4D9267-E4C3-557B-E2D5-023EA1596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364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796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2DC0-C174-196C-5542-12938F8EC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9505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b="1" dirty="0"/>
              <a:t>Recommendations for Success: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53635-F4D0-E1EA-FD14-F69870F8C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6400"/>
            <a:ext cx="10515600" cy="4816475"/>
          </a:xfrm>
          <a:noFill/>
        </p:spPr>
        <p:txBody>
          <a:bodyPr>
            <a:normAutofit fontScale="3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sz="6400" dirty="0"/>
              <a:t>Establish a Chief Data and AI Officer Role and launch a Global AI Center of Excellence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/>
              <a:t>Executive Buy-in &amp; Sponsorship: CEO and executive team must champion Data &amp; AI as a core strategic imperative.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/>
              <a:t>Cross-Functional Collaboration: Foster deep collaboration between Data &amp; AI, Product, Engineering, and Risk teams.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/>
              <a:t>Continuous Investment: Allocate consistent resources for technology, talent, and infrastructure.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/>
              <a:t>Agile &amp; Iterative Approach: Embrace experimentation, learn from failures, and rapidly adapt.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/>
              <a:t>Prioritize Responsible AI: Build trust by integrating ethical considerations from first day.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/>
              <a:t>Global-Local Balance: Centralized strategy with flexible regional implementation to address local nuances.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/>
              <a:t>Build a foundational AI capability by investing in data infrastructure, AI talent, and responsible AI governance, to transform </a:t>
            </a:r>
            <a:r>
              <a:rPr lang="en-US" sz="6400" dirty="0" err="1"/>
              <a:t>Nexora</a:t>
            </a:r>
            <a:r>
              <a:rPr lang="en-US" sz="6400" dirty="0"/>
              <a:t> into a trusted AI-first fintech for emerging markets.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6400" dirty="0"/>
              <a:t>Accelerate your AI fraud protection with </a:t>
            </a:r>
            <a:r>
              <a:rPr lang="en-US" sz="6400" dirty="0" err="1"/>
              <a:t>DataDome</a:t>
            </a:r>
            <a:r>
              <a:rPr lang="en-US" sz="6400" dirty="0"/>
              <a:t>: As AI-powered threats continue to evolve, businesses need sophisticated protection that can adapt to emerging fraud tactics</a:t>
            </a:r>
            <a:r>
              <a:rPr lang="en-US" sz="5000" dirty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249773-7BB4-F2D5-37C6-5B6DA1DC7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88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F2B633-4F0E-4D55-83A7-6E1B7BF4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7E9981-B51E-FD8F-94AA-41D84ADF6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4262" y="644577"/>
            <a:ext cx="10229538" cy="5532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31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A7995-5AA8-8F5F-B830-287B6D02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40061-197D-82D6-78D9-0FD7F4908B80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8F63-1B02-4888-C243-0A6B5FB72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9531"/>
            <a:ext cx="10515600" cy="3621918"/>
          </a:xfrm>
          <a:noFill/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4000" dirty="0" err="1"/>
              <a:t>Nexora</a:t>
            </a:r>
            <a:r>
              <a:rPr lang="en-US" sz="4000" dirty="0"/>
              <a:t> has the momentum and market data to become a global AI leader in fintech. Strategic focus on inclusive, ethical, and scalable AI adoption will distinguish </a:t>
            </a:r>
            <a:r>
              <a:rPr lang="en-US" sz="4000" dirty="0" err="1"/>
              <a:t>Nexora</a:t>
            </a:r>
            <a:r>
              <a:rPr lang="en-US" sz="4000" dirty="0"/>
              <a:t> across Asia, Africa, and the Middle East. Bold leadership, practical execution and commitment are critical to this journey.</a:t>
            </a:r>
          </a:p>
          <a:p>
            <a:pPr marL="0" indent="0" algn="just">
              <a:buNone/>
            </a:pPr>
            <a:r>
              <a:rPr lang="en-US" sz="4000" dirty="0"/>
              <a:t>Let’s make it happen!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  <a:p>
            <a:pPr>
              <a:buFont typeface="Wingdings" panose="05000000000000000000" pitchFamily="2" charset="2"/>
              <a:buChar char="ü"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F50739-755D-CA6D-8CD2-BAE0B29D2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791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A6B48-A558-1DB9-3260-AB3953900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8877"/>
            <a:ext cx="10515600" cy="4351338"/>
          </a:xfr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3600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sz="3600" dirty="0">
                <a:solidFill>
                  <a:schemeClr val="accent1"/>
                </a:solidFill>
              </a:rPr>
              <a:t>				|THANK YOU!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6865E4-EF00-CA4A-A773-4DCBEF90E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3620" y="6445770"/>
            <a:ext cx="2468380" cy="41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4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1299</Words>
  <Application>Microsoft Office PowerPoint</Application>
  <PresentationFormat>Widescreen</PresentationFormat>
  <Paragraphs>132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NEXORA FINTECH:  Unlocking Global Leadership Through Data &amp; AI</vt:lpstr>
      <vt:lpstr>GLOBAL TRENDS &amp; KEY OPPORTUNITIES IN DATA &amp; AI</vt:lpstr>
      <vt:lpstr>SWOT Analysis: Nexora's Internal Readiness for Data &amp; AI Leadership</vt:lpstr>
      <vt:lpstr>SWOT Analysis: Nexora's Internal Readiness for Data &amp; AI Leadership</vt:lpstr>
      <vt:lpstr>Strategic Roadmap (Key Initiatives &amp; Timeline) (Three Years Strategic Roadmaps: 2025 – 2027)</vt:lpstr>
      <vt:lpstr>PowerPoint Presentation</vt:lpstr>
      <vt:lpstr>PowerPoint Presentation</vt:lpstr>
      <vt:lpstr>Success Metrics &amp; Recommendations</vt:lpstr>
      <vt:lpstr>Success Metrics &amp; Recommendations</vt:lpstr>
      <vt:lpstr>Recommendations for Success: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Tj Taiwo</dc:creator>
  <cp:lastModifiedBy>Tj Taiwo</cp:lastModifiedBy>
  <cp:revision>23</cp:revision>
  <dcterms:created xsi:type="dcterms:W3CDTF">2025-06-17T12:40:19Z</dcterms:created>
  <dcterms:modified xsi:type="dcterms:W3CDTF">2025-06-18T19:02:24Z</dcterms:modified>
</cp:coreProperties>
</file>